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8" r:id="rId3"/>
    <p:sldId id="280" r:id="rId4"/>
    <p:sldId id="287" r:id="rId5"/>
    <p:sldId id="285" r:id="rId6"/>
    <p:sldId id="286" r:id="rId7"/>
    <p:sldId id="261" r:id="rId8"/>
    <p:sldId id="282" r:id="rId9"/>
    <p:sldId id="283" r:id="rId10"/>
    <p:sldId id="273" r:id="rId11"/>
    <p:sldId id="275" r:id="rId12"/>
    <p:sldId id="276" r:id="rId13"/>
    <p:sldId id="279" r:id="rId14"/>
    <p:sldId id="277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451B"/>
    <a:srgbClr val="75A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93875" autoAdjust="0"/>
  </p:normalViewPr>
  <p:slideViewPr>
    <p:cSldViewPr snapToGrid="0">
      <p:cViewPr varScale="1">
        <p:scale>
          <a:sx n="68" d="100"/>
          <a:sy n="68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sz="2800" dirty="0"/>
              <a:t>规划</a:t>
            </a:r>
            <a:r>
              <a:rPr lang="zh-CN" altLang="en-US" sz="2800" dirty="0"/>
              <a:t>甘特图</a:t>
            </a:r>
            <a:endParaRPr lang="zh-CN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5245312299084599"/>
          <c:y val="0.11052190659340312"/>
          <c:w val="0.89486331200787406"/>
          <c:h val="0.768421458635490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bg1">
                <a:alpha val="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1">
                  <c:v>结题检查</c:v>
                </c:pt>
                <c:pt idx="2">
                  <c:v>第二轮迭代</c:v>
                </c:pt>
                <c:pt idx="3">
                  <c:v>停车杯</c:v>
                </c:pt>
                <c:pt idx="4">
                  <c:v>704轮流</c:v>
                </c:pt>
                <c:pt idx="5">
                  <c:v>第一轮迭代</c:v>
                </c:pt>
                <c:pt idx="6">
                  <c:v>中期检查</c:v>
                </c:pt>
                <c:pt idx="7">
                  <c:v>智能学院</c:v>
                </c:pt>
                <c:pt idx="8">
                  <c:v>立项汇报</c:v>
                </c:pt>
                <c:pt idx="9">
                  <c:v>分组立项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1">
                  <c:v>9</c:v>
                </c:pt>
                <c:pt idx="2">
                  <c:v>5</c:v>
                </c:pt>
                <c:pt idx="3">
                  <c:v>8</c:v>
                </c:pt>
                <c:pt idx="4">
                  <c:v>5</c:v>
                </c:pt>
                <c:pt idx="5">
                  <c:v>1</c:v>
                </c:pt>
                <c:pt idx="6">
                  <c:v>4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3-4B92-AB3A-070CB5062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立项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1">
                  <c:v>结题检查</c:v>
                </c:pt>
                <c:pt idx="2">
                  <c:v>第二轮迭代</c:v>
                </c:pt>
                <c:pt idx="3">
                  <c:v>停车杯</c:v>
                </c:pt>
                <c:pt idx="4">
                  <c:v>704轮流</c:v>
                </c:pt>
                <c:pt idx="5">
                  <c:v>第一轮迭代</c:v>
                </c:pt>
                <c:pt idx="6">
                  <c:v>中期检查</c:v>
                </c:pt>
                <c:pt idx="7">
                  <c:v>智能学院</c:v>
                </c:pt>
                <c:pt idx="8">
                  <c:v>立项汇报</c:v>
                </c:pt>
                <c:pt idx="9">
                  <c:v>分组立项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C3-4B92-AB3A-070CB50625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第一轮迭代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1">
                  <c:v>结题检查</c:v>
                </c:pt>
                <c:pt idx="2">
                  <c:v>第二轮迭代</c:v>
                </c:pt>
                <c:pt idx="3">
                  <c:v>停车杯</c:v>
                </c:pt>
                <c:pt idx="4">
                  <c:v>704轮流</c:v>
                </c:pt>
                <c:pt idx="5">
                  <c:v>第一轮迭代</c:v>
                </c:pt>
                <c:pt idx="6">
                  <c:v>中期检查</c:v>
                </c:pt>
                <c:pt idx="7">
                  <c:v>智能学院</c:v>
                </c:pt>
                <c:pt idx="8">
                  <c:v>立项汇报</c:v>
                </c:pt>
                <c:pt idx="9">
                  <c:v>分组立项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C3-4B92-AB3A-070CB506259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第二轮迭代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1">
                  <c:v>结题检查</c:v>
                </c:pt>
                <c:pt idx="2">
                  <c:v>第二轮迭代</c:v>
                </c:pt>
                <c:pt idx="3">
                  <c:v>停车杯</c:v>
                </c:pt>
                <c:pt idx="4">
                  <c:v>704轮流</c:v>
                </c:pt>
                <c:pt idx="5">
                  <c:v>第一轮迭代</c:v>
                </c:pt>
                <c:pt idx="6">
                  <c:v>中期检查</c:v>
                </c:pt>
                <c:pt idx="7">
                  <c:v>智能学院</c:v>
                </c:pt>
                <c:pt idx="8">
                  <c:v>立项汇报</c:v>
                </c:pt>
                <c:pt idx="9">
                  <c:v>分组立项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1">
                  <c:v>0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C3-4B92-AB3A-070CB506259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里程碑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0"/>
                <c:pt idx="1">
                  <c:v>结题检查</c:v>
                </c:pt>
                <c:pt idx="2">
                  <c:v>第二轮迭代</c:v>
                </c:pt>
                <c:pt idx="3">
                  <c:v>停车杯</c:v>
                </c:pt>
                <c:pt idx="4">
                  <c:v>704轮流</c:v>
                </c:pt>
                <c:pt idx="5">
                  <c:v>第一轮迭代</c:v>
                </c:pt>
                <c:pt idx="6">
                  <c:v>中期检查</c:v>
                </c:pt>
                <c:pt idx="7">
                  <c:v>智能学院</c:v>
                </c:pt>
                <c:pt idx="8">
                  <c:v>立项汇报</c:v>
                </c:pt>
                <c:pt idx="9">
                  <c:v>分组立项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6">
                  <c:v>1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C3-4B92-AB3A-070CB5062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40379088"/>
        <c:axId val="1492273024"/>
      </c:barChart>
      <c:catAx>
        <c:axId val="1540379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492273024"/>
        <c:crosses val="autoZero"/>
        <c:auto val="1"/>
        <c:lblAlgn val="ctr"/>
        <c:lblOffset val="100"/>
        <c:noMultiLvlLbl val="0"/>
      </c:catAx>
      <c:valAx>
        <c:axId val="14922730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540379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C3D55-46BF-4DFE-93F0-3B08C14938F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62AA3-D037-4E14-B46F-A33EDD7B91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724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8BF6E-EEB1-44FD-9A2E-4959AF18D71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719B5-642B-4A4E-A4B8-B3DED23112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之前的“签到”的例子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719B5-642B-4A4E-A4B8-B3DED23112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85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www.offcn.com/dl/2015/0710/2015071010095090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12850"/>
          <a:stretch/>
        </p:blipFill>
        <p:spPr bwMode="auto">
          <a:xfrm>
            <a:off x="8954237" y="121209"/>
            <a:ext cx="3119547" cy="82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25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华文细黑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  <a:ea typeface="华文中宋" panose="02010600040101010101" pitchFamily="2" charset="-122"/>
              </a:defRPr>
            </a:lvl1pPr>
            <a:lvl2pPr>
              <a:defRPr sz="3200">
                <a:latin typeface="+mn-lt"/>
                <a:ea typeface="华文中宋" panose="02010600040101010101" pitchFamily="2" charset="-122"/>
              </a:defRPr>
            </a:lvl2pPr>
            <a:lvl3pPr>
              <a:defRPr sz="2800">
                <a:latin typeface="+mn-lt"/>
                <a:ea typeface="华文中宋" panose="02010600040101010101" pitchFamily="2" charset="-122"/>
              </a:defRPr>
            </a:lvl3pPr>
            <a:lvl4pPr>
              <a:defRPr sz="2400">
                <a:latin typeface="+mn-lt"/>
                <a:ea typeface="华文中宋" panose="02010600040101010101" pitchFamily="2" charset="-122"/>
              </a:defRPr>
            </a:lvl4pPr>
            <a:lvl5pPr>
              <a:defRPr sz="2400">
                <a:latin typeface="+mn-lt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www.offcn.com/dl/2015/0710/2015071010095090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12850"/>
          <a:stretch/>
        </p:blipFill>
        <p:spPr bwMode="auto">
          <a:xfrm>
            <a:off x="8954237" y="120139"/>
            <a:ext cx="3119547" cy="82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14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www.offcn.com/dl/2015/0710/2015071010095090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12850"/>
          <a:stretch/>
        </p:blipFill>
        <p:spPr bwMode="auto">
          <a:xfrm>
            <a:off x="8954237" y="128112"/>
            <a:ext cx="3119547" cy="82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17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2" descr="http://www.offcn.com/dl/2015/0710/2015071010095090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12850"/>
          <a:stretch/>
        </p:blipFill>
        <p:spPr bwMode="auto">
          <a:xfrm>
            <a:off x="8954237" y="104263"/>
            <a:ext cx="3119547" cy="82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4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57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8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03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00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93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81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908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4521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839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393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67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202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54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C4B8C5D-475F-499A-A8FF-AEA8EC4A42B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D15E6C-52F5-4611-9466-1A7A41F2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185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软件工程学期实训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III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989661"/>
          </a:xfrm>
        </p:spPr>
        <p:txBody>
          <a:bodyPr>
            <a:normAutofit/>
          </a:bodyPr>
          <a:lstStyle/>
          <a:p>
            <a:pPr algn="r"/>
            <a:r>
              <a:rPr lang="en-US" altLang="zh-CN" sz="3200" dirty="0"/>
              <a:t>2026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小学期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r"/>
            <a:r>
              <a:rPr lang="en-US" altLang="zh-CN" sz="3200" dirty="0"/>
              <a:t>BJTU SSE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13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日程安排 </a:t>
            </a:r>
            <a:br>
              <a:rPr lang="en-US" altLang="zh-CN" dirty="0"/>
            </a:br>
            <a:r>
              <a:rPr lang="en-US" altLang="zh-CN" dirty="0"/>
              <a:t>Project Agenda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B0F34D0-BCD5-4321-A9B8-4936F6B8A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时间跨度：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</a:t>
            </a:r>
            <a:r>
              <a:rPr lang="en-US" altLang="zh-CN" dirty="0"/>
              <a:t>~7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每日时间：</a:t>
            </a:r>
            <a:r>
              <a:rPr lang="en-US" altLang="zh-CN" b="1" dirty="0"/>
              <a:t>6.5h/</a:t>
            </a:r>
            <a:r>
              <a:rPr lang="zh-CN" altLang="en-US" b="1" dirty="0"/>
              <a:t>日 </a:t>
            </a:r>
            <a:r>
              <a:rPr lang="en-US" altLang="zh-CN" dirty="0"/>
              <a:t>9h00-12h00 13h30~17h00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注意：后续会涉及到对</a:t>
            </a:r>
            <a:r>
              <a:rPr lang="en-US" altLang="zh-CN" dirty="0"/>
              <a:t>704</a:t>
            </a:r>
            <a:r>
              <a:rPr lang="zh-CN" altLang="en-US" dirty="0"/>
              <a:t>设备的使用</a:t>
            </a:r>
            <a:endParaRPr lang="en-US" altLang="zh-CN" dirty="0"/>
          </a:p>
          <a:p>
            <a:pPr lvl="1"/>
            <a:r>
              <a:rPr lang="en-US" altLang="zh-CN" dirty="0"/>
              <a:t> 704</a:t>
            </a:r>
            <a:r>
              <a:rPr lang="zh-CN" altLang="en-US" dirty="0"/>
              <a:t>还需要存放其他设备，因此不要超时</a:t>
            </a:r>
            <a:endParaRPr lang="en-US" altLang="zh-CN" dirty="0"/>
          </a:p>
          <a:p>
            <a:pPr lvl="1"/>
            <a:r>
              <a:rPr lang="en-US" altLang="zh-CN" dirty="0"/>
              <a:t> 704</a:t>
            </a:r>
            <a:r>
              <a:rPr lang="zh-CN" altLang="en-US" dirty="0"/>
              <a:t>只有一台仿真台，因此轮流使用时也请注意时间</a:t>
            </a:r>
            <a:endParaRPr lang="en-US" altLang="zh-CN" dirty="0"/>
          </a:p>
          <a:p>
            <a:pPr marL="3690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708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58157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特殊节点 </a:t>
            </a:r>
            <a:br>
              <a:rPr lang="en-US" altLang="zh-CN" dirty="0"/>
            </a:br>
            <a:r>
              <a:rPr lang="en-US" altLang="zh-CN" dirty="0"/>
              <a:t>Special Milestones</a:t>
            </a:r>
            <a:r>
              <a:rPr lang="zh-CN" altLang="en-US" dirty="0"/>
              <a:t> 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B0F34D0-BCD5-4321-A9B8-4936F6B8A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949677" cy="4058751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分组立项：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</a:t>
            </a:r>
            <a:r>
              <a:rPr lang="en-US" altLang="zh-CN" dirty="0"/>
              <a:t>       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立项汇报：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中期检查：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10</a:t>
            </a:r>
            <a:r>
              <a:rPr lang="zh-CN" altLang="en-US" dirty="0"/>
              <a:t>日    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 项目答辩：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57E139CB-A580-4F7F-8722-99DF9EC3B2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9012151"/>
              </p:ext>
            </p:extLst>
          </p:nvPr>
        </p:nvGraphicFramePr>
        <p:xfrm>
          <a:off x="6812437" y="1212915"/>
          <a:ext cx="5894894" cy="472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347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71029-B327-484F-BC77-9573563747B0}"/>
              </a:ext>
            </a:extLst>
          </p:cNvPr>
          <p:cNvSpPr txBox="1">
            <a:spLocks/>
          </p:cNvSpPr>
          <p:nvPr/>
        </p:nvSpPr>
        <p:spPr>
          <a:xfrm>
            <a:off x="197964" y="216817"/>
            <a:ext cx="11881394" cy="1088796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第一届“停车杯”赛事回顾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内容占位符 11">
            <a:extLst>
              <a:ext uri="{FF2B5EF4-FFF2-40B4-BE49-F238E27FC236}">
                <a16:creationId xmlns:a16="http://schemas.microsoft.com/office/drawing/2014/main" id="{E28E11FD-C5D2-4EC2-BAE3-28D061A31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464" y="1500776"/>
            <a:ext cx="4356277" cy="5140407"/>
          </a:xfrm>
          <a:prstGeom prst="rect">
            <a:avLst/>
          </a:prstGeom>
        </p:spPr>
      </p:pic>
      <p:pic>
        <p:nvPicPr>
          <p:cNvPr id="4" name="内容占位符 7">
            <a:extLst>
              <a:ext uri="{FF2B5EF4-FFF2-40B4-BE49-F238E27FC236}">
                <a16:creationId xmlns:a16="http://schemas.microsoft.com/office/drawing/2014/main" id="{D7A58D28-FD30-4B45-997B-ED5B70FDA6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289" y="1500776"/>
            <a:ext cx="3120883" cy="23397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B0F198-4A98-4C5C-8923-5F645F57CA8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78"/>
          <a:stretch/>
        </p:blipFill>
        <p:spPr>
          <a:xfrm>
            <a:off x="282805" y="3500260"/>
            <a:ext cx="3978111" cy="208565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8A153C-1038-47A8-A858-3056F3D12162}"/>
              </a:ext>
            </a:extLst>
          </p:cNvPr>
          <p:cNvSpPr/>
          <p:nvPr/>
        </p:nvSpPr>
        <p:spPr>
          <a:xfrm>
            <a:off x="8739741" y="4148527"/>
            <a:ext cx="328327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冠军车队 </a:t>
            </a:r>
            <a:endParaRPr lang="en-US" altLang="zh-CN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“</a:t>
            </a:r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AE86</a:t>
            </a:r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F7FCBA-07EF-42F4-A61C-FE0A85BAC6C4}"/>
              </a:ext>
            </a:extLst>
          </p:cNvPr>
          <p:cNvSpPr/>
          <p:nvPr/>
        </p:nvSpPr>
        <p:spPr>
          <a:xfrm>
            <a:off x="92417" y="1793487"/>
            <a:ext cx="435888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最好成绩车队</a:t>
            </a:r>
            <a:endParaRPr lang="en-US" altLang="zh-CN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r>
              <a:rPr lang="zh-CN" alt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“冲击波”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548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208E78-0BF9-4C87-872D-9E9BA1429B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05" b="23712"/>
          <a:stretch/>
        </p:blipFill>
        <p:spPr>
          <a:xfrm>
            <a:off x="41652" y="1216058"/>
            <a:ext cx="12139118" cy="5641942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A3F11F6D-AB5D-4576-A9B6-B5A08F2A59DB}"/>
              </a:ext>
            </a:extLst>
          </p:cNvPr>
          <p:cNvSpPr txBox="1">
            <a:spLocks/>
          </p:cNvSpPr>
          <p:nvPr/>
        </p:nvSpPr>
        <p:spPr>
          <a:xfrm>
            <a:off x="197964" y="216817"/>
            <a:ext cx="11881394" cy="1088796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第一届“停车杯”手动挡比赛 冠军之路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242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DEF1FF7-4EFC-4FA3-9A9D-BBB37F17A4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8" b="23986"/>
          <a:stretch/>
        </p:blipFill>
        <p:spPr>
          <a:xfrm>
            <a:off x="0" y="1216059"/>
            <a:ext cx="12171483" cy="564194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3274167-6908-4EAD-AD67-961BF4226E6D}"/>
              </a:ext>
            </a:extLst>
          </p:cNvPr>
          <p:cNvSpPr txBox="1">
            <a:spLocks/>
          </p:cNvSpPr>
          <p:nvPr/>
        </p:nvSpPr>
        <p:spPr>
          <a:xfrm>
            <a:off x="197964" y="207390"/>
            <a:ext cx="11881394" cy="108879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A5A10E5-25DC-4061-811B-140EC33E8F45}"/>
              </a:ext>
            </a:extLst>
          </p:cNvPr>
          <p:cNvSpPr txBox="1">
            <a:spLocks/>
          </p:cNvSpPr>
          <p:nvPr/>
        </p:nvSpPr>
        <p:spPr>
          <a:xfrm>
            <a:off x="155303" y="207390"/>
            <a:ext cx="11881394" cy="1088796"/>
          </a:xfrm>
          <a:prstGeom prst="rect">
            <a:avLst/>
          </a:prstGeom>
        </p:spPr>
        <p:txBody>
          <a:bodyPr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第一届“停车杯”手自一体比赛 冠军之路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败者组逆袭之旅</a:t>
            </a:r>
          </a:p>
        </p:txBody>
      </p:sp>
    </p:spTree>
    <p:extLst>
      <p:ext uri="{BB962C8B-B14F-4D97-AF65-F5344CB8AC3E}">
        <p14:creationId xmlns:p14="http://schemas.microsoft.com/office/powerpoint/2010/main" val="349296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项目内容 </a:t>
            </a:r>
            <a:br>
              <a:rPr lang="en-US" altLang="zh-CN" dirty="0"/>
            </a:br>
            <a:r>
              <a:rPr lang="en-US" altLang="zh-CN" dirty="0"/>
              <a:t>Project context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zh-CN" altLang="en-US" dirty="0"/>
              <a:t>为什么要开设本次小学期综合实训？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 本次实训中要求综合使用</a:t>
            </a:r>
            <a:r>
              <a:rPr lang="zh-CN" altLang="en-US" b="1" dirty="0">
                <a:solidFill>
                  <a:srgbClr val="00B0F0"/>
                </a:solidFill>
              </a:rPr>
              <a:t>软件工程理论知识</a:t>
            </a:r>
            <a:r>
              <a:rPr lang="zh-CN" altLang="en-US" dirty="0">
                <a:solidFill>
                  <a:srgbClr val="00B0F0"/>
                </a:solidFill>
              </a:rPr>
              <a:t>、</a:t>
            </a:r>
            <a:r>
              <a:rPr lang="zh-CN" altLang="en-US" b="1" dirty="0">
                <a:solidFill>
                  <a:srgbClr val="00B0F0"/>
                </a:solidFill>
              </a:rPr>
              <a:t>具体的开发技术</a:t>
            </a:r>
            <a:r>
              <a:rPr lang="zh-CN" altLang="en-US" dirty="0">
                <a:solidFill>
                  <a:srgbClr val="00B0F0"/>
                </a:solidFill>
              </a:rPr>
              <a:t>、</a:t>
            </a:r>
            <a:r>
              <a:rPr lang="zh-CN" altLang="en-US" b="1" dirty="0">
                <a:solidFill>
                  <a:srgbClr val="00B0F0"/>
                </a:solidFill>
              </a:rPr>
              <a:t>业界真实场景</a:t>
            </a:r>
            <a:r>
              <a:rPr lang="zh-CN" altLang="en-US" dirty="0">
                <a:solidFill>
                  <a:srgbClr val="00B0F0"/>
                </a:solidFill>
              </a:rPr>
              <a:t>及</a:t>
            </a:r>
            <a:r>
              <a:rPr lang="zh-CN" altLang="en-US" b="1" dirty="0">
                <a:solidFill>
                  <a:srgbClr val="00B0F0"/>
                </a:solidFill>
              </a:rPr>
              <a:t>人工智能应用</a:t>
            </a:r>
            <a:r>
              <a:rPr lang="zh-CN" altLang="en-US" dirty="0"/>
              <a:t>，为即将到来的</a:t>
            </a:r>
            <a:r>
              <a:rPr lang="zh-CN" altLang="en-US" b="1" dirty="0">
                <a:solidFill>
                  <a:srgbClr val="FFFF00"/>
                </a:solidFill>
              </a:rPr>
              <a:t>实习</a:t>
            </a:r>
            <a:r>
              <a:rPr lang="zh-CN" altLang="en-US" dirty="0"/>
              <a:t>及</a:t>
            </a:r>
            <a:r>
              <a:rPr lang="zh-CN" altLang="en-US" b="1" dirty="0">
                <a:solidFill>
                  <a:srgbClr val="92D050"/>
                </a:solidFill>
              </a:rPr>
              <a:t>毕设</a:t>
            </a:r>
            <a:r>
              <a:rPr lang="zh-CN" altLang="en-US" dirty="0"/>
              <a:t>的顺利实施，打下基础。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683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项目内容 </a:t>
            </a:r>
            <a:br>
              <a:rPr lang="en-US" altLang="zh-CN" dirty="0"/>
            </a:br>
            <a:r>
              <a:rPr lang="en-US" altLang="zh-CN" dirty="0"/>
              <a:t>Project context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zh-CN" altLang="en-US" dirty="0"/>
              <a:t>要求：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软件工程理论知识</a:t>
            </a:r>
            <a:r>
              <a:rPr lang="en-US" altLang="zh-CN" dirty="0"/>
              <a:t>: </a:t>
            </a:r>
            <a:r>
              <a:rPr lang="zh-CN" altLang="en-US" dirty="0"/>
              <a:t>重点体现 </a:t>
            </a:r>
            <a:r>
              <a:rPr lang="zh-CN" altLang="en-US" b="1" dirty="0">
                <a:solidFill>
                  <a:srgbClr val="FFC000"/>
                </a:solidFill>
              </a:rPr>
              <a:t>需求分析</a:t>
            </a:r>
            <a:r>
              <a:rPr lang="zh-CN" altLang="en-US" dirty="0"/>
              <a:t> 与 </a:t>
            </a:r>
            <a:r>
              <a:rPr lang="zh-CN" altLang="en-US" b="1" dirty="0">
                <a:solidFill>
                  <a:srgbClr val="FFC000"/>
                </a:solidFill>
              </a:rPr>
              <a:t>项目管理</a:t>
            </a:r>
            <a:endParaRPr lang="en-US" altLang="zh-CN" b="1" dirty="0">
              <a:solidFill>
                <a:srgbClr val="FFC000"/>
              </a:solidFill>
            </a:endParaRPr>
          </a:p>
          <a:p>
            <a:r>
              <a:rPr lang="en-US" altLang="zh-CN" dirty="0"/>
              <a:t>2.</a:t>
            </a:r>
            <a:r>
              <a:rPr lang="zh-CN" altLang="en-US" dirty="0"/>
              <a:t>具体的开发技术：不限制语言与框架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真实业务场景及人工智能应用：传统模型</a:t>
            </a:r>
            <a:r>
              <a:rPr lang="en-US" altLang="zh-CN" dirty="0"/>
              <a:t>/</a:t>
            </a:r>
            <a:r>
              <a:rPr lang="zh-CN" altLang="en-US" dirty="0"/>
              <a:t>人工智能方法的目标都是解决实际业务场景中的某个问题</a:t>
            </a:r>
            <a:endParaRPr lang="en-US" altLang="zh-CN" dirty="0"/>
          </a:p>
          <a:p>
            <a:pPr marL="4500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/>
              <a:t>如何归纳、提炼并建模这个问题？</a:t>
            </a:r>
            <a:endParaRPr lang="en-US" altLang="zh-CN" dirty="0"/>
          </a:p>
          <a:p>
            <a:pPr marL="4500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/>
              <a:t>如何衡量这个问题的解决？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0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场景介绍 </a:t>
            </a:r>
            <a:br>
              <a:rPr lang="en-US" altLang="zh-CN" dirty="0"/>
            </a:br>
            <a:r>
              <a:rPr lang="en-US" altLang="zh-CN" dirty="0"/>
              <a:t>Par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轨道交通仿真系统，包含：供电仿真系统、车辆仿真系统、轨道仿真系统、信号系统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根据接口协议，设计接口通讯程序，实现实体司机台的驱动，完成交通场景的仿真（如手动停站、自动停站，智能运行等）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7408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项目要求和评判标准</a:t>
            </a:r>
            <a:br>
              <a:rPr lang="en-US" altLang="zh-CN" dirty="0"/>
            </a:br>
            <a:r>
              <a:rPr lang="en-US" altLang="zh-CN" dirty="0"/>
              <a:t>Assessment Criteria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Group project: </a:t>
            </a:r>
            <a:r>
              <a:rPr lang="en-US" altLang="zh-CN" b="1" dirty="0">
                <a:solidFill>
                  <a:srgbClr val="FFFF00"/>
                </a:solidFill>
              </a:rPr>
              <a:t>5 </a:t>
            </a:r>
            <a:r>
              <a:rPr lang="zh-CN" altLang="en-US" b="1" dirty="0">
                <a:solidFill>
                  <a:srgbClr val="FFFF00"/>
                </a:solidFill>
              </a:rPr>
              <a:t>人一组</a:t>
            </a:r>
            <a:endParaRPr lang="en-US" altLang="zh-CN" b="1" dirty="0">
              <a:solidFill>
                <a:srgbClr val="FFFF00"/>
              </a:solidFill>
            </a:endParaRPr>
          </a:p>
          <a:p>
            <a:r>
              <a:rPr lang="en-US" altLang="zh-CN" dirty="0"/>
              <a:t> Grades includes: </a:t>
            </a:r>
          </a:p>
          <a:p>
            <a:pPr marL="36900" indent="0">
              <a:buNone/>
            </a:pPr>
            <a:r>
              <a:rPr lang="zh-CN" altLang="en-US" dirty="0"/>
              <a:t>立项检查，中期检查 ，最终答辩 </a:t>
            </a:r>
            <a:endParaRPr lang="en-US" altLang="zh-CN" dirty="0"/>
          </a:p>
          <a:p>
            <a:pPr marL="36900" indent="0">
              <a:buNone/>
            </a:pPr>
            <a:r>
              <a:rPr lang="zh-CN" altLang="en-US" dirty="0"/>
              <a:t>提交物（代码、文档），周报</a:t>
            </a:r>
            <a:endParaRPr lang="en-US" altLang="zh-CN" dirty="0"/>
          </a:p>
          <a:p>
            <a:pPr marL="36900" indent="0">
              <a:buNone/>
            </a:pPr>
            <a:r>
              <a:rPr lang="zh-CN" altLang="en-US" dirty="0"/>
              <a:t>项目管理情况，</a:t>
            </a:r>
            <a:r>
              <a:rPr lang="en-US" altLang="zh-CN" dirty="0"/>
              <a:t>Bonus</a:t>
            </a:r>
            <a:r>
              <a:rPr lang="zh-CN" altLang="en-US" dirty="0"/>
              <a:t>（停车杯比赛表现）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71541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12939"/>
              </p:ext>
            </p:extLst>
          </p:nvPr>
        </p:nvGraphicFramePr>
        <p:xfrm>
          <a:off x="555445" y="233774"/>
          <a:ext cx="11081110" cy="6342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187">
                  <a:extLst>
                    <a:ext uri="{9D8B030D-6E8A-4147-A177-3AD203B41FA5}">
                      <a16:colId xmlns:a16="http://schemas.microsoft.com/office/drawing/2014/main" val="3001692696"/>
                    </a:ext>
                  </a:extLst>
                </a:gridCol>
                <a:gridCol w="1227364">
                  <a:extLst>
                    <a:ext uri="{9D8B030D-6E8A-4147-A177-3AD203B41FA5}">
                      <a16:colId xmlns:a16="http://schemas.microsoft.com/office/drawing/2014/main" val="2911887986"/>
                    </a:ext>
                  </a:extLst>
                </a:gridCol>
                <a:gridCol w="6051559">
                  <a:extLst>
                    <a:ext uri="{9D8B030D-6E8A-4147-A177-3AD203B41FA5}">
                      <a16:colId xmlns:a16="http://schemas.microsoft.com/office/drawing/2014/main" val="190805579"/>
                    </a:ext>
                  </a:extLst>
                </a:gridCol>
              </a:tblGrid>
              <a:tr h="4713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华文中宋" panose="02010600040101010101" pitchFamily="2" charset="-122"/>
                        </a:rPr>
                        <a:t>Items’ names</a:t>
                      </a:r>
                      <a:endParaRPr lang="zh-CN" altLang="en-US" sz="16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华文中宋" panose="02010600040101010101" pitchFamily="2" charset="-122"/>
                        </a:rPr>
                        <a:t>Pts.</a:t>
                      </a:r>
                      <a:endParaRPr lang="zh-CN" altLang="en-US" sz="16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华文中宋" panose="02010600040101010101" pitchFamily="2" charset="-122"/>
                        </a:rPr>
                        <a:t>Comments.</a:t>
                      </a:r>
                      <a:endParaRPr lang="zh-CN" altLang="en-US" sz="16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551947"/>
                  </a:ext>
                </a:extLst>
              </a:tr>
              <a:tr h="7375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出勤与周报</a:t>
                      </a:r>
                      <a:endParaRPr lang="en-US" altLang="zh-CN" sz="2000" dirty="0">
                        <a:latin typeface="+mn-lt"/>
                        <a:ea typeface="华文中宋" panose="02010600040101010101" pitchFamily="2" charset="-122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Attendance check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5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At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least 2 checks, and 2 weekly reports </a:t>
                      </a:r>
                    </a:p>
                    <a:p>
                      <a:pPr algn="ctr"/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Written </a:t>
                      </a:r>
                      <a:r>
                        <a:rPr lang="en-US" altLang="zh-CN" sz="2000" b="1" baseline="0" dirty="0">
                          <a:solidFill>
                            <a:srgbClr val="0070C0"/>
                          </a:solidFill>
                          <a:latin typeface="+mn-lt"/>
                          <a:ea typeface="华文中宋" panose="02010600040101010101" pitchFamily="2" charset="-122"/>
                        </a:rPr>
                        <a:t>individually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, handed in by </a:t>
                      </a:r>
                      <a:r>
                        <a:rPr lang="en-US" altLang="zh-CN" sz="2000" b="1" baseline="0" dirty="0">
                          <a:solidFill>
                            <a:srgbClr val="0070C0"/>
                          </a:solidFill>
                          <a:latin typeface="+mn-lt"/>
                          <a:ea typeface="华文中宋" panose="02010600040101010101" pitchFamily="2" charset="-122"/>
                        </a:rPr>
                        <a:t>group </a:t>
                      </a:r>
                      <a:endParaRPr lang="zh-CN" altLang="en-US" sz="2000" b="1" dirty="0">
                        <a:solidFill>
                          <a:srgbClr val="0070C0"/>
                        </a:solidFill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41208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立项检查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10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华文中宋" panose="02010600040101010101" pitchFamily="2" charset="-122"/>
                          <a:cs typeface="+mn-cs"/>
                        </a:rPr>
                        <a:t>Examine on how do you investigate and conduct the requirements of the system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n-lt"/>
                        <a:ea typeface="华文中宋" panose="02010600040101010101" pitchFamily="2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743859"/>
                  </a:ext>
                </a:extLst>
              </a:tr>
              <a:tr h="7227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中期检查</a:t>
                      </a:r>
                      <a:endParaRPr lang="en-US" altLang="zh-CN" sz="2000" dirty="0">
                        <a:latin typeface="+mn-lt"/>
                        <a:ea typeface="华文中宋" panose="02010600040101010101" pitchFamily="2" charset="-122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Mid-term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check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15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Give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a report on your progress b</a:t>
                      </a:r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y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group, 10mins, slides needed, Q&amp;A included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947873"/>
                  </a:ext>
                </a:extLst>
              </a:tr>
              <a:tr h="1400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最终答辩</a:t>
                      </a:r>
                      <a:endParaRPr lang="en-US" altLang="zh-CN" sz="2000" dirty="0">
                        <a:latin typeface="+mn-lt"/>
                        <a:ea typeface="华文中宋" panose="02010600040101010101" pitchFamily="2" charset="-122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Final presentation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50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Give a report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in detail about project implementation, 15~20mins, Q&amp;A, demo, </a:t>
                      </a:r>
                      <a:r>
                        <a:rPr lang="en-US" altLang="zh-CN" sz="2000" b="1" baseline="0" dirty="0">
                          <a:latin typeface="+mn-lt"/>
                          <a:ea typeface="华文中宋" panose="02010600040101010101" pitchFamily="2" charset="-122"/>
                        </a:rPr>
                        <a:t>no side-audience</a:t>
                      </a:r>
                    </a:p>
                    <a:p>
                      <a:pPr algn="ctr"/>
                      <a:r>
                        <a:rPr lang="en-US" altLang="zh-CN" sz="2000" baseline="0" dirty="0" err="1">
                          <a:latin typeface="+mn-lt"/>
                          <a:ea typeface="华文中宋" panose="02010600040101010101" pitchFamily="2" charset="-122"/>
                        </a:rPr>
                        <a:t>Individual_Grade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= </a:t>
                      </a:r>
                      <a:r>
                        <a:rPr lang="en-US" altLang="zh-CN" sz="2000" baseline="0" dirty="0" err="1">
                          <a:latin typeface="+mn-lt"/>
                          <a:ea typeface="华文中宋" panose="02010600040101010101" pitchFamily="2" charset="-122"/>
                        </a:rPr>
                        <a:t>Group_Grade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*</a:t>
                      </a:r>
                      <a:r>
                        <a:rPr lang="en-US" altLang="zh-CN" sz="2000" b="1" baseline="0" dirty="0">
                          <a:latin typeface="+mn-lt"/>
                          <a:ea typeface="华文中宋" panose="02010600040101010101" pitchFamily="2" charset="-122"/>
                        </a:rPr>
                        <a:t>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42371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提交物 </a:t>
                      </a:r>
                      <a:endParaRPr lang="en-US" altLang="zh-CN" sz="2000" dirty="0">
                        <a:latin typeface="+mn-lt"/>
                        <a:ea typeface="华文中宋" panose="02010600040101010101" pitchFamily="2" charset="-122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Deliveries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10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Full codes and documents of the project, by </a:t>
                      </a:r>
                      <a:r>
                        <a:rPr lang="en-US" altLang="zh-CN" sz="2000" b="1" dirty="0">
                          <a:latin typeface="+mn-lt"/>
                          <a:ea typeface="华文中宋" panose="02010600040101010101" pitchFamily="2" charset="-122"/>
                        </a:rPr>
                        <a:t>group</a:t>
                      </a: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中宋" panose="02010600040101010101" pitchFamily="2" charset="-122"/>
                        </a:rPr>
                        <a:t>Some of the docs will be checked during the 1</a:t>
                      </a:r>
                      <a:r>
                        <a:rPr lang="en-US" altLang="zh-CN" sz="2000" b="1" baseline="30000" dirty="0">
                          <a:latin typeface="+mn-lt"/>
                          <a:ea typeface="华文中宋" panose="02010600040101010101" pitchFamily="2" charset="-122"/>
                        </a:rPr>
                        <a:t>st</a:t>
                      </a:r>
                      <a:r>
                        <a:rPr lang="en-US" altLang="zh-CN" sz="2000" b="1" dirty="0">
                          <a:latin typeface="+mn-lt"/>
                          <a:ea typeface="华文中宋" panose="02010600040101010101" pitchFamily="2" charset="-122"/>
                        </a:rPr>
                        <a:t>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236296"/>
                  </a:ext>
                </a:extLst>
              </a:tr>
              <a:tr h="7227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项目管理</a:t>
                      </a:r>
                      <a:endParaRPr lang="en-US" altLang="zh-CN" sz="2000" dirty="0">
                        <a:latin typeface="+mn-lt"/>
                        <a:ea typeface="华文中宋" panose="02010600040101010101" pitchFamily="2" charset="-122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Project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management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10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Material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s to support your actions on project management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890221"/>
                  </a:ext>
                </a:extLst>
              </a:tr>
              <a:tr h="7025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Sum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100</a:t>
                      </a:r>
                      <a:r>
                        <a:rPr lang="en-US" altLang="zh-CN" sz="2000" baseline="0" dirty="0">
                          <a:latin typeface="+mn-lt"/>
                          <a:ea typeface="华文中宋" panose="02010600040101010101" pitchFamily="2" charset="-122"/>
                        </a:rPr>
                        <a:t> pts.</a:t>
                      </a:r>
                      <a:endParaRPr lang="zh-CN" altLang="en-US" sz="2000" dirty="0">
                        <a:latin typeface="+mn-lt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n-lt"/>
                          <a:ea typeface="华文中宋" panose="02010600040101010101" pitchFamily="2" charset="-122"/>
                        </a:rPr>
                        <a:t>Extra points from bonus</a:t>
                      </a:r>
                      <a:r>
                        <a:rPr lang="zh-CN" altLang="en-US" sz="2000" dirty="0">
                          <a:latin typeface="+mn-lt"/>
                          <a:ea typeface="华文中宋" panose="02010600040101010101" pitchFamily="2" charset="-122"/>
                        </a:rPr>
                        <a:t>（停车杯）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412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456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组队须知</a:t>
            </a:r>
            <a:br>
              <a:rPr lang="en-US" altLang="zh-CN" dirty="0"/>
            </a:br>
            <a:r>
              <a:rPr lang="en-US" altLang="zh-CN" dirty="0"/>
              <a:t>Form your group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243315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个人最终成绩</a:t>
            </a:r>
            <a:r>
              <a:rPr lang="en-US" altLang="zh-CN" dirty="0"/>
              <a:t>=f(</a:t>
            </a:r>
            <a:r>
              <a:rPr lang="zh-CN" altLang="en-US" dirty="0"/>
              <a:t>小组成绩，贡献度，</a:t>
            </a:r>
            <a:r>
              <a:rPr lang="en-US" altLang="zh-CN" dirty="0"/>
              <a:t>modifier)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小组成绩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周报，中期，提交物，项目管理，最终小组答辩成绩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贡献度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最终答辩后，小组商议后，组长分配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 modifier  </a:t>
            </a:r>
            <a:r>
              <a:rPr lang="zh-CN" altLang="en-US" dirty="0">
                <a:sym typeface="Wingdings" panose="05000000000000000000" pitchFamily="2" charset="2"/>
              </a:rPr>
              <a:t>个人的加分或扣分（比如最终答辩时候的个人提问）</a:t>
            </a:r>
            <a:endParaRPr lang="en-US" altLang="zh-CN" dirty="0"/>
          </a:p>
          <a:p>
            <a:endParaRPr lang="en-US" altLang="zh-CN" sz="2800" dirty="0"/>
          </a:p>
        </p:txBody>
      </p:sp>
      <p:pic>
        <p:nvPicPr>
          <p:cNvPr id="4" name="Picture 2" descr="https://timgsa.baidu.com/timg?image&amp;quality=80&amp;size=b9999_10000&amp;sec=1562507117&amp;di=192b9a9c39b320ca805cb7fb5c0f7b39&amp;imgtype=jpg&amp;er=1&amp;src=http%3A%2F%2Fp4.ssl.cdn.btime.com%2Ft016970b2bcfff6d3b5.jpg%3Fsize%3D580x4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27" y="4053825"/>
            <a:ext cx="3163359" cy="23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ss1.baidu.com/6ONXsjip0QIZ8tyhnq/it/u=974277673,1677568633&amp;fm=173&amp;app=49&amp;f=JPEG?w=640&amp;h=366&amp;s=E8F020C4425101C43D2479980300209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7" r="10558"/>
          <a:stretch/>
        </p:blipFill>
        <p:spPr bwMode="auto">
          <a:xfrm>
            <a:off x="7147018" y="4053825"/>
            <a:ext cx="3276013" cy="23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44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组队须知</a:t>
            </a:r>
            <a:br>
              <a:rPr lang="en-US" altLang="zh-CN" dirty="0"/>
            </a:br>
            <a:r>
              <a:rPr lang="en-US" altLang="zh-CN" dirty="0"/>
              <a:t>Form your group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2433151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zh-CN" altLang="en-US" dirty="0"/>
              <a:t>怎么理解阶梯性打分：每个人的成绩都不同，组内出废极特别情况，</a:t>
            </a:r>
            <a:r>
              <a:rPr lang="zh-CN" altLang="en-US" b="1" dirty="0">
                <a:solidFill>
                  <a:srgbClr val="FFFF00"/>
                </a:solidFill>
              </a:rPr>
              <a:t>不会出现超过</a:t>
            </a:r>
            <a:r>
              <a:rPr lang="en-US" altLang="zh-CN" b="1" dirty="0">
                <a:solidFill>
                  <a:srgbClr val="FFFF00"/>
                </a:solidFill>
              </a:rPr>
              <a:t>3</a:t>
            </a:r>
            <a:r>
              <a:rPr lang="zh-CN" altLang="en-US" b="1" dirty="0">
                <a:solidFill>
                  <a:srgbClr val="FFFF00"/>
                </a:solidFill>
              </a:rPr>
              <a:t>个人</a:t>
            </a:r>
            <a:r>
              <a:rPr lang="zh-CN" altLang="en-US" dirty="0"/>
              <a:t>成绩相同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Example as a 3pts-step-scoring in a </a:t>
            </a:r>
            <a:r>
              <a:rPr lang="en-US" altLang="zh-CN" b="1" dirty="0">
                <a:solidFill>
                  <a:srgbClr val="FFFF00"/>
                </a:solidFill>
              </a:rPr>
              <a:t>80 pt. group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74 (C+)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77 (B-)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80 (B)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83 (B+)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86 (A-)</a:t>
            </a:r>
            <a:endParaRPr lang="en-US" altLang="zh-CN" sz="2800" dirty="0"/>
          </a:p>
        </p:txBody>
      </p:sp>
      <p:pic>
        <p:nvPicPr>
          <p:cNvPr id="4" name="Picture 2" descr="https://timgsa.baidu.com/timg?image&amp;quality=80&amp;size=b9999_10000&amp;sec=1562507117&amp;di=192b9a9c39b320ca805cb7fb5c0f7b39&amp;imgtype=jpg&amp;er=1&amp;src=http%3A%2F%2Fp4.ssl.cdn.btime.com%2Ft016970b2bcfff6d3b5.jpg%3Fsize%3D580x4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27" y="4053825"/>
            <a:ext cx="3163359" cy="23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ss1.baidu.com/6ONXsjip0QIZ8tyhnq/it/u=974277673,1677568633&amp;fm=173&amp;app=49&amp;f=JPEG?w=640&amp;h=366&amp;s=E8F020C4425101C43D2479980300209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7" r="10558"/>
          <a:stretch/>
        </p:blipFill>
        <p:spPr bwMode="auto">
          <a:xfrm>
            <a:off x="7147018" y="4053825"/>
            <a:ext cx="3276013" cy="237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4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6. </a:t>
            </a:r>
            <a:r>
              <a:rPr lang="zh-CN" altLang="en-US" dirty="0"/>
              <a:t>特别说明</a:t>
            </a:r>
            <a:br>
              <a:rPr lang="en-US" altLang="zh-CN" dirty="0"/>
            </a:br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课程名字是“</a:t>
            </a:r>
            <a:r>
              <a:rPr lang="zh-CN" altLang="en-US" b="1" dirty="0">
                <a:solidFill>
                  <a:srgbClr val="FFC000"/>
                </a:solidFill>
              </a:rPr>
              <a:t>软件工程</a:t>
            </a:r>
            <a:r>
              <a:rPr lang="zh-CN" altLang="en-US" dirty="0"/>
              <a:t>学期实训</a:t>
            </a:r>
            <a:r>
              <a:rPr lang="en-US" altLang="zh-CN" dirty="0"/>
              <a:t>III</a:t>
            </a:r>
            <a:r>
              <a:rPr lang="zh-CN" altLang="en-US" dirty="0"/>
              <a:t>”，那么软件工程是如何体现的（比如两轮迭代需求有没有变动？代码如何管理的？之类的）</a:t>
            </a:r>
            <a:endParaRPr lang="en-US" altLang="zh-CN" dirty="0"/>
          </a:p>
          <a:p>
            <a:r>
              <a:rPr lang="zh-CN" altLang="en-US" dirty="0"/>
              <a:t> 立项汇报：说明小组前期调研的结果、分工情况与技术选型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文档 （时间紧迫，可以从简，但是不能没有）</a:t>
            </a:r>
          </a:p>
        </p:txBody>
      </p:sp>
    </p:spTree>
    <p:extLst>
      <p:ext uri="{BB962C8B-B14F-4D97-AF65-F5344CB8AC3E}">
        <p14:creationId xmlns:p14="http://schemas.microsoft.com/office/powerpoint/2010/main" val="246147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b="1" dirty="0"/>
              <a:t>Thank you for your attention</a:t>
            </a:r>
            <a:endParaRPr lang="zh-CN" altLang="en-US" b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30570</TotalTime>
  <Words>785</Words>
  <Application>Microsoft Office PowerPoint</Application>
  <PresentationFormat>宽屏</PresentationFormat>
  <Paragraphs>90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方正舒体</vt:lpstr>
      <vt:lpstr>华文细黑</vt:lpstr>
      <vt:lpstr>华文中宋</vt:lpstr>
      <vt:lpstr>楷体</vt:lpstr>
      <vt:lpstr>Calisto MT</vt:lpstr>
      <vt:lpstr>Trebuchet MS</vt:lpstr>
      <vt:lpstr>Wingdings</vt:lpstr>
      <vt:lpstr>Wingdings 2</vt:lpstr>
      <vt:lpstr>石板</vt:lpstr>
      <vt:lpstr>软件工程学期实训III</vt:lpstr>
      <vt:lpstr>1. 日程安排  Project Agenda</vt:lpstr>
      <vt:lpstr>1. 特殊节点  Special Milestones </vt:lpstr>
      <vt:lpstr>PowerPoint 演示文稿</vt:lpstr>
      <vt:lpstr>PowerPoint 演示文稿</vt:lpstr>
      <vt:lpstr>PowerPoint 演示文稿</vt:lpstr>
      <vt:lpstr>2.项目内容  Project context</vt:lpstr>
      <vt:lpstr>2.项目内容  Project context</vt:lpstr>
      <vt:lpstr>3.场景介绍  Par example</vt:lpstr>
      <vt:lpstr>4. 项目要求和评判标准 Assessment Criteria</vt:lpstr>
      <vt:lpstr>PowerPoint 演示文稿</vt:lpstr>
      <vt:lpstr>5. 组队须知 Form your group</vt:lpstr>
      <vt:lpstr>5. 组队须知 Form your group</vt:lpstr>
      <vt:lpstr>6. 特别说明 Tips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&amp; Linux Programming</dc:title>
  <dc:creator>ZHANG Jian</dc:creator>
  <cp:lastModifiedBy>Jian ZHANG</cp:lastModifiedBy>
  <cp:revision>1127</cp:revision>
  <dcterms:created xsi:type="dcterms:W3CDTF">2020-02-13T08:08:53Z</dcterms:created>
  <dcterms:modified xsi:type="dcterms:W3CDTF">2026-07-02T09:42:10Z</dcterms:modified>
</cp:coreProperties>
</file>